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ad250e49f24f7c" /><Relationship Type="http://schemas.openxmlformats.org/officeDocument/2006/relationships/extended-properties" Target="/docProps/app.xml" Id="Rabe5238c885f4828" /><Relationship Type="http://schemas.openxmlformats.org/officeDocument/2006/relationships/officeDocument" Target="/ppt/presentation.xml" Id="R2d8982a8892f4fa6" /></Relationships>
</file>

<file path=ppt/presentation.xml><?xml version="1.0" encoding="utf-8"?>
<p:presentation xmlns:p="http://schemas.openxmlformats.org/presentationml/2006/main">
  <p:sldMasterIdLst>
    <p:sldMasterId xmlns:r="http://schemas.openxmlformats.org/officeDocument/2006/relationships" id="2147483648" r:id="R8416f09ce8b148df"/>
  </p:sldMasterIdLst>
  <p:notesMasterIdLst>
    <p:notesMasterId xmlns:r="http://schemas.openxmlformats.org/officeDocument/2006/relationships" r:id="Ra7433eca69af45c3"/>
  </p:notesMasterIdLst>
  <p:sldIdLst>
    <p:sldId xmlns:r="http://schemas.openxmlformats.org/officeDocument/2006/relationships" id="256" r:id="R5e6a8fc64f9f4ed1"/>
    <p:sldId xmlns:r="http://schemas.openxmlformats.org/officeDocument/2006/relationships" id="257" r:id="R887ab1314c3c4b99"/>
    <p:sldId xmlns:r="http://schemas.openxmlformats.org/officeDocument/2006/relationships" id="258" r:id="R8b7a40ee7d744d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f38d95796a4ef3" /><Relationship Type="http://schemas.openxmlformats.org/officeDocument/2006/relationships/slideMaster" Target="/ppt/slideMasters/slideMaster1.xml" Id="R8416f09ce8b148df" /><Relationship Type="http://schemas.openxmlformats.org/officeDocument/2006/relationships/notesMaster" Target="/ppt/notesMasters/notesMaster1.xml" Id="Ra7433eca69af45c3" /><Relationship Type="http://schemas.openxmlformats.org/officeDocument/2006/relationships/presProps" Target="/ppt/presProps.xml" Id="R41b6340380614ada" /><Relationship Type="http://schemas.openxmlformats.org/officeDocument/2006/relationships/tableStyles" Target="/ppt/tableStyles.xml" Id="R3e03a3b27b0045fa" /><Relationship Type="http://schemas.openxmlformats.org/officeDocument/2006/relationships/slide" Target="/ppt/slides/slide1.xml" Id="R5e6a8fc64f9f4ed1" /><Relationship Type="http://schemas.openxmlformats.org/officeDocument/2006/relationships/slide" Target="/ppt/slides/slide2.xml" Id="R887ab1314c3c4b99" /><Relationship Type="http://schemas.openxmlformats.org/officeDocument/2006/relationships/slide" Target="/ppt/slides/slide3.xml" Id="R8b7a40ee7d744d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a68034440a47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6d9bc0058341b2" /><Relationship Type="http://schemas.openxmlformats.org/officeDocument/2006/relationships/notesMaster" Target="/ppt/notesMasters/notesMaster1.xml" Id="R98dc780a20074c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953caac19448fc" /><Relationship Type="http://schemas.openxmlformats.org/officeDocument/2006/relationships/notesMaster" Target="/ppt/notesMasters/notesMaster1.xml" Id="Rf368dec1233646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618b6e980c455b" /><Relationship Type="http://schemas.openxmlformats.org/officeDocument/2006/relationships/notesMaster" Target="/ppt/notesMasters/notesMaster1.xml" Id="R42137226765b46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 Good morning. I'm U.W.D.P. Amarasinghe, MS25903874. My professional is a registered pharmacist at Dulnitha Pharmacy in Kottawa, an independent community pharmacy, whom I'll call Pharmacist A. I identified the problem in a discussion with the pharmacist on the 30th of September. By the pharmacist's estimates, the team of three handles about 200 prescriptions a day, and 70 to 80 percent are handwritten. Each takes 2 to 3 minutes, which is roughly 5 to 8 staff-hours a day, and about 3 percent need a colleague or the doctor to confirm. The task that needs improvement is reading handwritten prescriptions and checking them against stock and interactions, all by hand and from memory, with a queue waiting. So my two requirements are: R1, read a prescription photo into an editable list with uncertain fields flagged; and R2, check that list against stock and interaction rules to produce a dispensing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 For the technology, I chose Amazon Nova 2 Lite, a multimodal foundation model on Amazon Bedrock, AWS's managed AI service. It reads handwriting and shorthand like bd, tds and nocte directly from the photo in one step, and returns structured data with a confidence level for each field, so the pharmacist knows what to double-check. The alternative I considered was also on AWS: Amazon Textract to read the text, then Amazon Comprehend Medical to pick out the medicines. It works, but it is two separate steps, so any reading error flows into the extraction, and Comprehend Medical is tuned to US drug names, so local brands may be missed. So Nova handles reading, while the stock and safety checks stay rule-based and predictable. The solution has two connected features. In Feature 1, the pharmacist uploads a photo, Nova extracts the items, and the pharmacist confirms or edits them. Feature 2 takes that confirmed list, checks it against stock, generics and interaction rules, and produces a dispensing checklist. If the AI fails, a manual entry form feeds Feature 2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 Here is an early example, shown as a planned walkthrough with simulated data. The input is a synthetic prescription for Lipitor 20 milligrams at night and Klacid 500 milligrams twice daily for five days. Amazon Nova extracts each item as structured data, and the rules then flag that Lipitor is out of stock, suggest generic atorvastatin, and warn about the atorvastatin and clarithromycin interaction. For cost, setup is about 25,000 rupees for AWS configuration and staff training, using the existing PC and a phone. Running costs are about 4,500 to 7,000 rupees a month: around 8 to 15 dollars of Nova usage for about 4,800 scans, plus a small AWS server. Testing the prototype costs less than a dollar. The main constraint is privacy: images are processed in an overseas AWS region, so patient names are redacted before upload, and Sri Lanka's data protection law must be checked. My next action is to collect samples by the 7th of October and finish Feature 1 by the 14th of October.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d6eb5444824c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f330181b6847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1930629fda43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c61b2adfbf4e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a2ef51387146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2ab19bb8ce4b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9D154BE-7E29-4498-8319-30A81BD56C9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1724012-E372-497A-9A62-01F5A3E2AD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E48339E-FF3F-4818-A32F-9836B64068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60A8BFDB-894F-4EF8-BE58-E67BCF7891CF}"/>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16839DF-649E-4F70-B81F-F5A4A7F1C6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FC96C6F-6297-4EEF-935E-61958806536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34B301-902D-486E-8270-841D4E30AE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C29DD43-707E-4D3C-AA10-3D6FC9378A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149A6EA-AFBC-4C0E-927C-9B365375F32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0CE253C-1898-4491-9C96-CA68F9E64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FA6174A-7C4E-41DA-BD54-B50FD93196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9C00FD1-DA4A-49DC-B50F-592694ED2A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B208D63-3989-4693-B9B9-F05243194F7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8107A42-8692-43B7-9A67-8672B3968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69CAF4E-B0FA-4A4C-93DE-B6544FE39E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0b906ea774422a" /><Relationship Type="http://schemas.openxmlformats.org/officeDocument/2006/relationships/slideLayout" Target="/ppt/slideLayouts/slideLayout1.xml" Id="R7214c2ecb0514abf" /><Relationship Type="http://schemas.openxmlformats.org/officeDocument/2006/relationships/slideLayout" Target="/ppt/slideLayouts/slideLayout2.xml" Id="Ra29fd808f91a4cf2" /><Relationship Type="http://schemas.openxmlformats.org/officeDocument/2006/relationships/slideLayout" Target="/ppt/slideLayouts/slideLayout3.xml" Id="Re77ed35b216e48b7" /><Relationship Type="http://schemas.openxmlformats.org/officeDocument/2006/relationships/slideLayout" Target="/ppt/slideLayouts/slideLayout4.xml" Id="R9d3fa9b6f34f4490" /><Relationship Type="http://schemas.openxmlformats.org/officeDocument/2006/relationships/slideLayout" Target="/ppt/slideLayouts/slideLayout5.xml" Id="R12667c06d752409d" /><Relationship Type="http://schemas.openxmlformats.org/officeDocument/2006/relationships/slideLayout" Target="/ppt/slideLayouts/slideLayout6.xml" Id="Re767017041b24f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4c2ecb0514abf"/>
    <p:sldLayoutId xmlns:r="http://schemas.openxmlformats.org/officeDocument/2006/relationships" id="2147483650" r:id="Ra29fd808f91a4cf2"/>
    <p:sldLayoutId xmlns:r="http://schemas.openxmlformats.org/officeDocument/2006/relationships" id="2147483651" r:id="Re77ed35b216e48b7"/>
    <p:sldLayoutId xmlns:r="http://schemas.openxmlformats.org/officeDocument/2006/relationships" id="2147483652" r:id="R9d3fa9b6f34f4490"/>
    <p:sldLayoutId xmlns:r="http://schemas.openxmlformats.org/officeDocument/2006/relationships" id="2147483653" r:id="R12667c06d752409d"/>
    <p:sldLayoutId xmlns:r="http://schemas.openxmlformats.org/officeDocument/2006/relationships" id="2147483654" r:id="Re767017041b24f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494fad4e22d45e6" /><Relationship Type="http://schemas.openxmlformats.org/officeDocument/2006/relationships/notesSlide" Target="/ppt/notesSlides/notesSlide1.xml" Id="Rc071d5a4f9e345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73f0c5782e4a92" /><Relationship Type="http://schemas.openxmlformats.org/officeDocument/2006/relationships/notesSlide" Target="/ppt/notesSlides/notesSlide2.xml" Id="Rc236d0fb54d34a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8cd2a924fb4cf3" /><Relationship Type="http://schemas.openxmlformats.org/officeDocument/2006/relationships/notesSlide" Target="/ppt/notesSlides/notesSlide3.xml" Id="Rbe36e9d558a548bf" /></Relationships>
</file>

<file path=ppt/slides/slide1.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5BFC7A-DD22-4DCD-BE10-68A1924BB9A4}"/>
              </a:ext>
            </a:extLst>
          </p:cNvPr>
          <p:cNvSpPr>
            <a:spLocks xmlns:a="http://schemas.openxmlformats.org/drawingml/2006/main" noGrp="1"/>
          </p:cNvSpPr>
          <p:nvPr/>
        </p:nvSpPr>
        <p:spPr>
          <a:xfrm xmlns:a="http://schemas.openxmlformats.org/drawingml/2006/main">
            <a:off x="609600" y="295275"/>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ASSIGNMENT 02  /  PROGRESS PRESENTATION</a:t>
            </a:r>
          </a:p>
        </p:txBody>
      </p:sp>
      <p:sp>
        <p:nvSpPr>
          <p:cNvPr id="2" name="">
            <a:extLst xmlns:a="http://schemas.openxmlformats.org/drawingml/2006/main">
              <a:ext uri="{FF2B5EF4-FFF2-40B4-BE49-F238E27FC236}">
                <a16:creationId xmlns:a16="http://schemas.microsoft.com/office/drawing/2014/main" id="{D5391CCB-1AD9-45BB-AC19-F93A9A6AF135}"/>
              </a:ext>
            </a:extLst>
          </p:cNvPr>
          <p:cNvSpPr>
            <a:spLocks xmlns:a="http://schemas.openxmlformats.org/drawingml/2006/main" noGrp="1"/>
          </p:cNvSpPr>
          <p:nvPr/>
        </p:nvSpPr>
        <p:spPr>
          <a:xfrm xmlns:a="http://schemas.openxmlformats.org/drawingml/2006/main">
            <a:off x="609600" y="7334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34B"/>
                </a:solidFill>
                <a:latin typeface="Nimbus Sans"/>
                <a:ea typeface="Nimbus Sans"/>
                <a:cs typeface="Nimbus Sans"/>
              </a:defRPr>
            </a:pPr>
            <a:r>
              <a:rPr sz="3150" b="1">
                <a:solidFill>
                  <a:srgbClr val="18334B"/>
                </a:solidFill>
                <a:latin typeface="Nimbus Sans"/>
                <a:ea typeface="Nimbus Sans"/>
                <a:cs typeface="Nimbus Sans"/>
              </a:rPr>
              <a:t>Professional and problem</a:t>
            </a:r>
          </a:p>
        </p:txBody>
      </p:sp>
      <p:sp>
        <p:nvSpPr>
          <p:cNvPr id="3" name="">
            <a:extLst xmlns:a="http://schemas.openxmlformats.org/drawingml/2006/main">
              <a:ext uri="{FF2B5EF4-FFF2-40B4-BE49-F238E27FC236}">
                <a16:creationId xmlns:a16="http://schemas.microsoft.com/office/drawing/2014/main" id="{E34EA27E-3CAE-42F3-9A3C-33D61EFA4281}"/>
              </a:ext>
            </a:extLst>
          </p:cNvPr>
          <p:cNvSpPr>
            <a:spLocks xmlns:a="http://schemas.openxmlformats.org/drawingml/2006/main" noGrp="1"/>
          </p:cNvSpPr>
          <p:nvPr/>
        </p:nvSpPr>
        <p:spPr>
          <a:xfrm xmlns:a="http://schemas.openxmlformats.org/drawingml/2006/main">
            <a:off x="609600" y="1428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B6B78"/>
                </a:solidFill>
                <a:latin typeface="Nimbus Sans"/>
                <a:ea typeface="Nimbus Sans"/>
                <a:cs typeface="Nimbus Sans"/>
              </a:defRPr>
            </a:pPr>
            <a:r>
              <a:rPr sz="1350" b="0">
                <a:solidFill>
                  <a:srgbClr val="5B6B78"/>
                </a:solidFill>
                <a:latin typeface="Nimbus Sans"/>
                <a:ea typeface="Nimbus Sans"/>
                <a:cs typeface="Nimbus Sans"/>
              </a:rPr>
              <a:t>60 seconds</a:t>
            </a:r>
          </a:p>
        </p:txBody>
      </p:sp>
      <p:sp>
        <p:nvSpPr>
          <p:cNvPr id="4" name="">
            <a:extLst xmlns:a="http://schemas.openxmlformats.org/drawingml/2006/main">
              <a:ext uri="{FF2B5EF4-FFF2-40B4-BE49-F238E27FC236}">
                <a16:creationId xmlns:a16="http://schemas.microsoft.com/office/drawing/2014/main" id="{9A3EB0B2-FFCC-48F4-B529-E20E0F7B33D3}"/>
              </a:ext>
            </a:extLst>
          </p:cNvPr>
          <p:cNvSpPr>
            <a:spLocks xmlns:a="http://schemas.openxmlformats.org/drawingml/2006/main" noGrp="1"/>
          </p:cNvSpPr>
          <p:nvPr/>
        </p:nvSpPr>
        <p:spPr>
          <a:xfrm xmlns:a="http://schemas.openxmlformats.org/drawingml/2006/main">
            <a:off x="609600" y="63817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200" b="0" dirty="0">
                <a:solidFill>
                  <a:srgbClr val="18334B"/>
                </a:solidFill>
                <a:latin typeface="Nimbus Sans"/>
                <a:ea typeface="Nimbus Sans"/>
                <a:cs typeface="Nimbus Sans"/>
              </a:rPr>
              <a:t xml:space="preserve">U.W.D.P. Amarasinghe   MS25903874</a:t>
            </a:r>
          </a:p>
        </p:txBody>
      </p:sp>
      <p:sp>
        <p:nvSpPr>
          <p:cNvPr id="5" name="">
            <a:extLst xmlns:a="http://schemas.openxmlformats.org/drawingml/2006/main">
              <a:ext uri="{FF2B5EF4-FFF2-40B4-BE49-F238E27FC236}">
                <a16:creationId xmlns:a16="http://schemas.microsoft.com/office/drawing/2014/main" id="{0709A324-9873-4182-B385-152AAC3BF47A}"/>
              </a:ext>
            </a:extLst>
          </p:cNvPr>
          <p:cNvSpPr>
            <a:spLocks xmlns:a="http://schemas.openxmlformats.org/drawingml/2006/main" noGrp="1"/>
          </p:cNvSpPr>
          <p:nvPr/>
        </p:nvSpPr>
        <p:spPr>
          <a:xfrm xmlns:a="http://schemas.openxmlformats.org/drawingml/2006/main">
            <a:off x="10953750" y="63817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B78"/>
                </a:solidFill>
                <a:latin typeface="Nimbus Sans"/>
                <a:ea typeface="Nimbus Sans"/>
                <a:cs typeface="Nimbus Sans"/>
              </a:defRPr>
            </a:pPr>
            <a:r>
              <a:rPr sz="1200" b="0">
                <a:solidFill>
                  <a:srgbClr val="5B6B78"/>
                </a:solidFill>
                <a:latin typeface="Nimbus Sans"/>
                <a:ea typeface="Nimbus Sans"/>
                <a:cs typeface="Nimbus Sans"/>
              </a:rPr>
              <a:t>1 / 3</a:t>
            </a:r>
          </a:p>
        </p:txBody>
      </p:sp>
      <p:sp>
        <p:nvSpPr>
          <p:cNvPr id="6" name="">
            <a:extLst xmlns:a="http://schemas.openxmlformats.org/drawingml/2006/main">
              <a:ext uri="{FF2B5EF4-FFF2-40B4-BE49-F238E27FC236}">
                <a16:creationId xmlns:a16="http://schemas.microsoft.com/office/drawing/2014/main" id="{B3CA1DD3-961B-4C32-A5C1-E41DF25BBF2A}"/>
              </a:ext>
            </a:extLst>
          </p:cNvPr>
          <p:cNvSpPr>
            <a:spLocks xmlns:a="http://schemas.openxmlformats.org/drawingml/2006/main" noGrp="1"/>
          </p:cNvSpPr>
          <p:nvPr/>
        </p:nvSpPr>
        <p:spPr>
          <a:xfrm xmlns:a="http://schemas.openxmlformats.org/drawingml/2006/main">
            <a:off x="619125" y="20764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PROFESSIONAL</a:t>
            </a:r>
          </a:p>
        </p:txBody>
      </p:sp>
      <p:sp>
        <p:nvSpPr>
          <p:cNvPr id="7" name="">
            <a:extLst xmlns:a="http://schemas.openxmlformats.org/drawingml/2006/main">
              <a:ext uri="{FF2B5EF4-FFF2-40B4-BE49-F238E27FC236}">
                <a16:creationId xmlns:a16="http://schemas.microsoft.com/office/drawing/2014/main" id="{A0C7C0B2-8AB2-42FE-B1DE-3FA10CD6393C}"/>
              </a:ext>
            </a:extLst>
          </p:cNvPr>
          <p:cNvSpPr>
            <a:spLocks xmlns:a="http://schemas.openxmlformats.org/drawingml/2006/main" noGrp="1"/>
          </p:cNvSpPr>
          <p:nvPr/>
        </p:nvSpPr>
        <p:spPr>
          <a:xfrm xmlns:a="http://schemas.openxmlformats.org/drawingml/2006/main">
            <a:off x="621792" y="2395728"/>
            <a:ext cx="493776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2000" b="1" dirty="0">
                <a:solidFill>
                  <a:srgbClr val="18334B"/>
                </a:solidFill>
                <a:latin typeface="Nimbus Sans"/>
                <a:ea typeface="Nimbus Sans"/>
                <a:cs typeface="Nimbus Sans"/>
              </a:rPr>
              <a:t xml:space="preserve">Pharmacist A</a:t>
            </a:r>
            <a:r>
              <a:rPr lang="en-GB" sz="2000" b="0" dirty="0">
                <a:solidFill>
                  <a:srgbClr val="18334B"/>
                </a:solidFill>
                <a:latin typeface="Nimbus Sans"/>
                <a:ea typeface="Nimbus Sans"/>
                <a:cs typeface="Nimbus Sans"/>
              </a:rPr>
              <a:t xml:space="preserve"> (declared pseudonym)</a:t>
            </a:r>
          </a:p>
        </p:txBody>
      </p:sp>
      <p:sp>
        <p:nvSpPr>
          <p:cNvPr id="8" name="">
            <a:extLst xmlns:a="http://schemas.openxmlformats.org/drawingml/2006/main">
              <a:ext uri="{FF2B5EF4-FFF2-40B4-BE49-F238E27FC236}">
                <a16:creationId xmlns:a16="http://schemas.microsoft.com/office/drawing/2014/main" id="{8EF6081F-A68F-4857-A38D-40F614994CD5}"/>
              </a:ext>
            </a:extLst>
          </p:cNvPr>
          <p:cNvSpPr>
            <a:spLocks xmlns:a="http://schemas.openxmlformats.org/drawingml/2006/main" noGrp="1"/>
          </p:cNvSpPr>
          <p:nvPr/>
        </p:nvSpPr>
        <p:spPr>
          <a:xfrm xmlns:a="http://schemas.openxmlformats.org/drawingml/2006/main">
            <a:off x="621792" y="2834640"/>
            <a:ext cx="493776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500" b="0" dirty="0">
                <a:solidFill>
                  <a:srgbClr val="18334B"/>
                </a:solidFill>
                <a:latin typeface="Nimbus Sans"/>
                <a:ea typeface="Nimbus Sans"/>
                <a:cs typeface="Nimbus Sans"/>
              </a:rPr>
              <a:t xml:space="preserve">Registered Pharmacist · Healthcare (community retail pharmacy) · Dulnitha Pharmacy, Kottawa</a:t>
            </a:r>
          </a:p>
        </p:txBody>
      </p:sp>
      <p:sp>
        <p:nvSpPr>
          <p:cNvPr id="9" name="">
            <a:extLst xmlns:a="http://schemas.openxmlformats.org/drawingml/2006/main">
              <a:ext uri="{FF2B5EF4-FFF2-40B4-BE49-F238E27FC236}">
                <a16:creationId xmlns:a16="http://schemas.microsoft.com/office/drawing/2014/main" id="{6CEE8A05-080B-4C8C-8375-5B7EF7E06164}"/>
              </a:ext>
            </a:extLst>
          </p:cNvPr>
          <p:cNvSpPr>
            <a:spLocks xmlns:a="http://schemas.openxmlformats.org/drawingml/2006/main" noGrp="1"/>
          </p:cNvSpPr>
          <p:nvPr/>
        </p:nvSpPr>
        <p:spPr>
          <a:xfrm xmlns:a="http://schemas.openxmlformats.org/drawingml/2006/main">
            <a:off x="5810250" y="2076450"/>
            <a:ext cx="561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HOW THE PROBLEM WAS IDENTIFIED</a:t>
            </a:r>
          </a:p>
        </p:txBody>
      </p:sp>
      <p:sp>
        <p:nvSpPr>
          <p:cNvPr id="10" name="">
            <a:extLst xmlns:a="http://schemas.openxmlformats.org/drawingml/2006/main">
              <a:ext uri="{FF2B5EF4-FFF2-40B4-BE49-F238E27FC236}">
                <a16:creationId xmlns:a16="http://schemas.microsoft.com/office/drawing/2014/main" id="{B64DE72B-DB92-484E-B345-B7424538CC35}"/>
              </a:ext>
            </a:extLst>
          </p:cNvPr>
          <p:cNvSpPr>
            <a:spLocks xmlns:a="http://schemas.openxmlformats.org/drawingml/2006/main" noGrp="1"/>
          </p:cNvSpPr>
          <p:nvPr/>
        </p:nvSpPr>
        <p:spPr>
          <a:xfrm xmlns:a="http://schemas.openxmlformats.org/drawingml/2006/main">
            <a:off x="5806440" y="2395728"/>
            <a:ext cx="5760720"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400" b="0" dirty="0">
                <a:solidFill>
                  <a:srgbClr val="18334B"/>
                </a:solidFill>
                <a:latin typeface="Nimbus Sans"/>
                <a:ea typeface="Nimbus Sans"/>
                <a:cs typeface="Nimbus Sans"/>
              </a:rPr>
              <a:t xml:space="preserve">Discussion with the pharmacist on 30/09/2026 (pharmacist’s estimates): </a:t>
            </a:r>
            <a:r>
              <a:rPr lang="en-GB" sz="1400" b="1" dirty="0">
                <a:solidFill>
                  <a:srgbClr val="18334B"/>
                </a:solidFill>
                <a:latin typeface="Nimbus Sans"/>
                <a:ea typeface="Nimbus Sans"/>
                <a:cs typeface="Nimbus Sans"/>
              </a:rPr>
              <a:t xml:space="preserve">~200 prescriptions/day, 70–80% handwritten; 2–3 min each ≈ 5–8 staff-hours/day; ~3% need a colleague or doctor to confirm.</a:t>
            </a:r>
            <a:r>
              <a:rPr lang="en-GB" sz="1400" b="0" dirty="0">
                <a:solidFill>
                  <a:srgbClr val="18334B"/>
                </a:solidFill>
                <a:latin typeface="Nimbus Sans"/>
                <a:ea typeface="Nimbus Sans"/>
                <a:cs typeface="Nimbus Sans"/>
              </a:rPr>
              <a:t xml:space="preserve"> 3 staff; peaks 7–8 am, 6–8 pm and all day at weekends.</a:t>
            </a:r>
          </a:p>
        </p:txBody>
      </p:sp>
      <p:sp>
        <p:nvSpPr>
          <p:cNvPr id="11" name="">
            <a:extLst xmlns:a="http://schemas.openxmlformats.org/drawingml/2006/main">
              <a:ext uri="{FF2B5EF4-FFF2-40B4-BE49-F238E27FC236}">
                <a16:creationId xmlns:a16="http://schemas.microsoft.com/office/drawing/2014/main" id="{5FF01D75-BFE2-48D5-A8FC-224364FB84E6}"/>
              </a:ext>
            </a:extLst>
          </p:cNvPr>
          <p:cNvSpPr>
            <a:spLocks xmlns:a="http://schemas.openxmlformats.org/drawingml/2006/main" noGrp="1"/>
          </p:cNvSpPr>
          <p:nvPr/>
        </p:nvSpPr>
        <p:spPr>
          <a:xfrm xmlns:a="http://schemas.openxmlformats.org/drawingml/2006/main">
            <a:off x="621792" y="3977639"/>
            <a:ext cx="809244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WORK TASK THAT NEEDS IMPROVEMENT</a:t>
            </a:r>
          </a:p>
        </p:txBody>
      </p:sp>
      <p:sp>
        <p:nvSpPr>
          <p:cNvPr id="12" name="">
            <a:extLst xmlns:a="http://schemas.openxmlformats.org/drawingml/2006/main">
              <a:ext uri="{FF2B5EF4-FFF2-40B4-BE49-F238E27FC236}">
                <a16:creationId xmlns:a16="http://schemas.microsoft.com/office/drawing/2014/main" id="{5A1767FF-DB1A-4EF3-9139-12E8E8B606ED}"/>
              </a:ext>
            </a:extLst>
          </p:cNvPr>
          <p:cNvSpPr>
            <a:spLocks xmlns:a="http://schemas.openxmlformats.org/drawingml/2006/main" noGrp="1"/>
          </p:cNvSpPr>
          <p:nvPr/>
        </p:nvSpPr>
        <p:spPr>
          <a:xfrm xmlns:a="http://schemas.openxmlformats.org/drawingml/2006/main">
            <a:off x="621792" y="4297680"/>
            <a:ext cx="10762488"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600" b="0" dirty="0">
                <a:solidFill>
                  <a:srgbClr val="18334B"/>
                </a:solidFill>
                <a:latin typeface="Nimbus Sans"/>
                <a:ea typeface="Nimbus Sans"/>
                <a:cs typeface="Nimbus Sans"/>
              </a:rPr>
              <a:t xml:space="preserve">Handwritten prescriptions are deciphered, cross-checked for duplicates and interactions, and matched to stock by hand – from memory, with a queue waiting.</a:t>
            </a:r>
          </a:p>
        </p:txBody>
      </p:sp>
      <p:sp>
        <p:nvSpPr>
          <p:cNvPr id="13" name="">
            <a:extLst xmlns:a="http://schemas.openxmlformats.org/drawingml/2006/main">
              <a:ext uri="{FF2B5EF4-FFF2-40B4-BE49-F238E27FC236}">
                <a16:creationId xmlns:a16="http://schemas.microsoft.com/office/drawing/2014/main" id="{3CF5BEFD-53BC-4FB1-86A1-EA605C5A4AF6}"/>
              </a:ext>
            </a:extLst>
          </p:cNvPr>
          <p:cNvSpPr>
            <a:spLocks xmlns:a="http://schemas.openxmlformats.org/drawingml/2006/main" noGrp="1"/>
          </p:cNvSpPr>
          <p:nvPr/>
        </p:nvSpPr>
        <p:spPr>
          <a:xfrm xmlns:a="http://schemas.openxmlformats.org/drawingml/2006/main">
            <a:off x="621792" y="5074920"/>
            <a:ext cx="5138928"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TWO REQUIREMENTS</a:t>
            </a:r>
          </a:p>
        </p:txBody>
      </p:sp>
      <p:sp>
        <p:nvSpPr>
          <p:cNvPr id="14" name="">
            <a:extLst xmlns:a="http://schemas.openxmlformats.org/drawingml/2006/main">
              <a:ext uri="{FF2B5EF4-FFF2-40B4-BE49-F238E27FC236}">
                <a16:creationId xmlns:a16="http://schemas.microsoft.com/office/drawing/2014/main" id="{62108233-D8A0-4B48-BD3F-D64BE09B9415}"/>
              </a:ext>
            </a:extLst>
          </p:cNvPr>
          <p:cNvSpPr>
            <a:spLocks xmlns:a="http://schemas.openxmlformats.org/drawingml/2006/main" noGrp="1"/>
          </p:cNvSpPr>
          <p:nvPr/>
        </p:nvSpPr>
        <p:spPr>
          <a:xfrm xmlns:a="http://schemas.openxmlformats.org/drawingml/2006/main">
            <a:off x="621792" y="5376672"/>
            <a:ext cx="525780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400" b="1" dirty="0">
                <a:solidFill>
                  <a:srgbClr val="18334B"/>
                </a:solidFill>
                <a:latin typeface="Nimbus Sans"/>
                <a:ea typeface="Nimbus Sans"/>
                <a:cs typeface="Nimbus Sans"/>
              </a:rPr>
              <a:t xml:space="preserve">01  R1 Read: </a:t>
            </a:r>
            <a:r>
              <a:rPr lang="en-GB" sz="1400" b="0" dirty="0">
                <a:solidFill>
                  <a:srgbClr val="18334B"/>
                </a:solidFill>
                <a:latin typeface="Nimbus Sans"/>
                <a:ea typeface="Nimbus Sans"/>
                <a:cs typeface="Nimbus Sans"/>
              </a:rPr>
              <a:t xml:space="preserve">photo of a handwritten prescription → editable list (drug, strength, dose, frequency) with uncertain fields flagged</a:t>
            </a:r>
          </a:p>
        </p:txBody>
      </p:sp>
      <p:sp>
        <p:nvSpPr>
          <p:cNvPr id="15" name="">
            <a:extLst xmlns:a="http://schemas.openxmlformats.org/drawingml/2006/main">
              <a:ext uri="{FF2B5EF4-FFF2-40B4-BE49-F238E27FC236}">
                <a16:creationId xmlns:a16="http://schemas.microsoft.com/office/drawing/2014/main" id="{858EA6DF-EEFD-4B6A-8D09-B8E47B27BFDC}"/>
              </a:ext>
            </a:extLst>
          </p:cNvPr>
          <p:cNvSpPr>
            <a:spLocks xmlns:a="http://schemas.openxmlformats.org/drawingml/2006/main" noGrp="1"/>
          </p:cNvSpPr>
          <p:nvPr/>
        </p:nvSpPr>
        <p:spPr>
          <a:xfrm xmlns:a="http://schemas.openxmlformats.org/drawingml/2006/main">
            <a:off x="6190488" y="5376672"/>
            <a:ext cx="525780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400" b="1" dirty="0">
                <a:solidFill>
                  <a:srgbClr val="18334B"/>
                </a:solidFill>
                <a:latin typeface="Nimbus Sans"/>
                <a:ea typeface="Nimbus Sans"/>
                <a:cs typeface="Nimbus Sans"/>
              </a:rPr>
              <a:t xml:space="preserve">02  R2 Check: </a:t>
            </a:r>
            <a:r>
              <a:rPr lang="en-GB" sz="1400" b="0" dirty="0">
                <a:solidFill>
                  <a:srgbClr val="18334B"/>
                </a:solidFill>
                <a:latin typeface="Nimbus Sans"/>
                <a:ea typeface="Nimbus Sans"/>
                <a:cs typeface="Nimbus Sans"/>
              </a:rPr>
              <a:t xml:space="preserve">confirmed list vs stock and interaction rules → dispensing checklist with warnings and generic alternatives</a:t>
            </a:r>
          </a:p>
        </p:txBody>
      </p:sp>
    </p:spTree>
    <p:extLst>
      <p:ext uri="{BB962C8B-B14F-4D97-AF65-F5344CB8AC3E}">
        <p14:creationId xmlns:p14="http://schemas.microsoft.com/office/powerpoint/2010/main" val="1202115054"/>
      </p:ext>
    </p:extLst>
  </p:cSld>
</p:sld>
</file>

<file path=ppt/slides/slide2.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F68A6FD-EB66-4D3F-BE2A-E62894CC7B8A}"/>
              </a:ext>
            </a:extLst>
          </p:cNvPr>
          <p:cNvSpPr>
            <a:spLocks xmlns:a="http://schemas.openxmlformats.org/drawingml/2006/main" noGrp="1"/>
          </p:cNvSpPr>
          <p:nvPr/>
        </p:nvSpPr>
        <p:spPr>
          <a:xfrm xmlns:a="http://schemas.openxmlformats.org/drawingml/2006/main">
            <a:off x="609600" y="295275"/>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ASSIGNMENT 02  /  PROGRESS PRESENTATION</a:t>
            </a:r>
          </a:p>
        </p:txBody>
      </p:sp>
      <p:sp>
        <p:nvSpPr>
          <p:cNvPr id="2" name="">
            <a:extLst xmlns:a="http://schemas.openxmlformats.org/drawingml/2006/main">
              <a:ext uri="{FF2B5EF4-FFF2-40B4-BE49-F238E27FC236}">
                <a16:creationId xmlns:a16="http://schemas.microsoft.com/office/drawing/2014/main" id="{3A66AE41-1E8D-4AD4-BDC7-C074A962BC0A}"/>
              </a:ext>
            </a:extLst>
          </p:cNvPr>
          <p:cNvSpPr>
            <a:spLocks xmlns:a="http://schemas.openxmlformats.org/drawingml/2006/main" noGrp="1"/>
          </p:cNvSpPr>
          <p:nvPr/>
        </p:nvSpPr>
        <p:spPr>
          <a:xfrm xmlns:a="http://schemas.openxmlformats.org/drawingml/2006/main">
            <a:off x="609600" y="7334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34B"/>
                </a:solidFill>
                <a:latin typeface="Nimbus Sans"/>
                <a:ea typeface="Nimbus Sans"/>
                <a:cs typeface="Nimbus Sans"/>
              </a:defRPr>
            </a:pPr>
            <a:r>
              <a:rPr sz="3150" b="1">
                <a:solidFill>
                  <a:srgbClr val="18334B"/>
                </a:solidFill>
                <a:latin typeface="Nimbus Sans"/>
                <a:ea typeface="Nimbus Sans"/>
                <a:cs typeface="Nimbus Sans"/>
              </a:rPr>
              <a:t>Technology and proposed solution</a:t>
            </a:r>
          </a:p>
        </p:txBody>
      </p:sp>
      <p:sp>
        <p:nvSpPr>
          <p:cNvPr id="3" name="">
            <a:extLst xmlns:a="http://schemas.openxmlformats.org/drawingml/2006/main">
              <a:ext uri="{FF2B5EF4-FFF2-40B4-BE49-F238E27FC236}">
                <a16:creationId xmlns:a16="http://schemas.microsoft.com/office/drawing/2014/main" id="{C1BF861C-BD43-47BB-9FDC-4891A880F52D}"/>
              </a:ext>
            </a:extLst>
          </p:cNvPr>
          <p:cNvSpPr>
            <a:spLocks xmlns:a="http://schemas.openxmlformats.org/drawingml/2006/main" noGrp="1"/>
          </p:cNvSpPr>
          <p:nvPr/>
        </p:nvSpPr>
        <p:spPr>
          <a:xfrm xmlns:a="http://schemas.openxmlformats.org/drawingml/2006/main">
            <a:off x="609600" y="1428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B6B78"/>
                </a:solidFill>
                <a:latin typeface="Nimbus Sans"/>
                <a:ea typeface="Nimbus Sans"/>
                <a:cs typeface="Nimbus Sans"/>
              </a:defRPr>
            </a:pPr>
            <a:r>
              <a:rPr sz="1350" b="0">
                <a:solidFill>
                  <a:srgbClr val="5B6B78"/>
                </a:solidFill>
                <a:latin typeface="Nimbus Sans"/>
                <a:ea typeface="Nimbus Sans"/>
                <a:cs typeface="Nimbus Sans"/>
              </a:rPr>
              <a:t>65 seconds</a:t>
            </a:r>
          </a:p>
        </p:txBody>
      </p:sp>
      <p:sp>
        <p:nvSpPr>
          <p:cNvPr id="4" name="">
            <a:extLst xmlns:a="http://schemas.openxmlformats.org/drawingml/2006/main">
              <a:ext uri="{FF2B5EF4-FFF2-40B4-BE49-F238E27FC236}">
                <a16:creationId xmlns:a16="http://schemas.microsoft.com/office/drawing/2014/main" id="{4A387D86-0E96-4B22-AD01-D65D82BDDF90}"/>
              </a:ext>
            </a:extLst>
          </p:cNvPr>
          <p:cNvSpPr>
            <a:spLocks xmlns:a="http://schemas.openxmlformats.org/drawingml/2006/main" noGrp="1"/>
          </p:cNvSpPr>
          <p:nvPr/>
        </p:nvSpPr>
        <p:spPr>
          <a:xfrm xmlns:a="http://schemas.openxmlformats.org/drawingml/2006/main">
            <a:off x="609600" y="63817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200" b="0" dirty="0">
                <a:solidFill>
                  <a:srgbClr val="18334B"/>
                </a:solidFill>
                <a:latin typeface="Nimbus Sans"/>
                <a:ea typeface="Nimbus Sans"/>
                <a:cs typeface="Nimbus Sans"/>
              </a:rPr>
              <a:t xml:space="preserve">U.W.D.P. Amarasinghe   MS25903874</a:t>
            </a:r>
          </a:p>
        </p:txBody>
      </p:sp>
      <p:sp>
        <p:nvSpPr>
          <p:cNvPr id="5" name="">
            <a:extLst xmlns:a="http://schemas.openxmlformats.org/drawingml/2006/main">
              <a:ext uri="{FF2B5EF4-FFF2-40B4-BE49-F238E27FC236}">
                <a16:creationId xmlns:a16="http://schemas.microsoft.com/office/drawing/2014/main" id="{79B29E03-50FE-49C2-9B74-204E6EC9CD91}"/>
              </a:ext>
            </a:extLst>
          </p:cNvPr>
          <p:cNvSpPr>
            <a:spLocks xmlns:a="http://schemas.openxmlformats.org/drawingml/2006/main" noGrp="1"/>
          </p:cNvSpPr>
          <p:nvPr/>
        </p:nvSpPr>
        <p:spPr>
          <a:xfrm xmlns:a="http://schemas.openxmlformats.org/drawingml/2006/main">
            <a:off x="10953750" y="63817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B78"/>
                </a:solidFill>
                <a:latin typeface="Nimbus Sans"/>
                <a:ea typeface="Nimbus Sans"/>
                <a:cs typeface="Nimbus Sans"/>
              </a:defRPr>
            </a:pPr>
            <a:r>
              <a:rPr sz="1200" b="0">
                <a:solidFill>
                  <a:srgbClr val="5B6B78"/>
                </a:solidFill>
                <a:latin typeface="Nimbus Sans"/>
                <a:ea typeface="Nimbus Sans"/>
                <a:cs typeface="Nimbus Sans"/>
              </a:rPr>
              <a:t>2 / 3</a:t>
            </a:r>
          </a:p>
        </p:txBody>
      </p:sp>
      <p:sp>
        <p:nvSpPr>
          <p:cNvPr id="6" name="">
            <a:extLst xmlns:a="http://schemas.openxmlformats.org/drawingml/2006/main">
              <a:ext uri="{FF2B5EF4-FFF2-40B4-BE49-F238E27FC236}">
                <a16:creationId xmlns:a16="http://schemas.microsoft.com/office/drawing/2014/main" id="{0DD0FF1E-E5B0-4998-936D-9375666DC5F7}"/>
              </a:ext>
            </a:extLst>
          </p:cNvPr>
          <p:cNvSpPr>
            <a:spLocks xmlns:a="http://schemas.openxmlformats.org/drawingml/2006/main" noGrp="1"/>
          </p:cNvSpPr>
          <p:nvPr/>
        </p:nvSpPr>
        <p:spPr>
          <a:xfrm xmlns:a="http://schemas.openxmlformats.org/drawingml/2006/main">
            <a:off x="619125" y="20288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SELECTED EMERGING TECHNOLOGY</a:t>
            </a:r>
          </a:p>
        </p:txBody>
      </p:sp>
      <p:sp>
        <p:nvSpPr>
          <p:cNvPr id="7" name="">
            <a:extLst xmlns:a="http://schemas.openxmlformats.org/drawingml/2006/main">
              <a:ext uri="{FF2B5EF4-FFF2-40B4-BE49-F238E27FC236}">
                <a16:creationId xmlns:a16="http://schemas.microsoft.com/office/drawing/2014/main" id="{3E476498-6CCB-4114-B7DA-E3EDB7A03CD6}"/>
              </a:ext>
            </a:extLst>
          </p:cNvPr>
          <p:cNvSpPr>
            <a:spLocks xmlns:a="http://schemas.openxmlformats.org/drawingml/2006/main" noGrp="1"/>
          </p:cNvSpPr>
          <p:nvPr/>
        </p:nvSpPr>
        <p:spPr>
          <a:xfrm xmlns:a="http://schemas.openxmlformats.org/drawingml/2006/main">
            <a:off x="621792" y="2359152"/>
            <a:ext cx="1067104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550" b="1" dirty="0">
                <a:solidFill>
                  <a:srgbClr val="18334B"/>
                </a:solidFill>
                <a:latin typeface="Nimbus Sans"/>
                <a:ea typeface="Nimbus Sans"/>
                <a:cs typeface="Nimbus Sans"/>
              </a:rPr>
              <a:t xml:space="preserve">Amazon Nova 2 Lite on Amazon Bedrock (AWS multimodal foundation model)</a:t>
            </a:r>
            <a:r>
              <a:rPr lang="en-GB" sz="1550" b="0" dirty="0">
                <a:solidFill>
                  <a:srgbClr val="18334B"/>
                </a:solidFill>
                <a:latin typeface="Nimbus Sans"/>
                <a:ea typeface="Nimbus Sans"/>
                <a:cs typeface="Nimbus Sans"/>
              </a:rPr>
              <a:t xml:space="preserve"> – reads handwriting and shorthand (bd, tds, nocte) straight from the photo in one step and returns structured JSON with a confidence flag per field for review.</a:t>
            </a:r>
          </a:p>
        </p:txBody>
      </p:sp>
      <p:sp>
        <p:nvSpPr>
          <p:cNvPr id="8" name="">
            <a:extLst xmlns:a="http://schemas.openxmlformats.org/drawingml/2006/main">
              <a:ext uri="{FF2B5EF4-FFF2-40B4-BE49-F238E27FC236}">
                <a16:creationId xmlns:a16="http://schemas.microsoft.com/office/drawing/2014/main" id="{5DC74F71-C05E-437A-921A-3A8400AA5B77}"/>
              </a:ext>
            </a:extLst>
          </p:cNvPr>
          <p:cNvSpPr>
            <a:spLocks xmlns:a="http://schemas.openxmlformats.org/drawingml/2006/main" noGrp="1"/>
          </p:cNvSpPr>
          <p:nvPr/>
        </p:nvSpPr>
        <p:spPr>
          <a:xfrm xmlns:a="http://schemas.openxmlformats.org/drawingml/2006/main">
            <a:off x="621792" y="3291840"/>
            <a:ext cx="5715000"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ALTERNATIVE CONSIDERED</a:t>
            </a:r>
          </a:p>
        </p:txBody>
      </p:sp>
      <p:sp>
        <p:nvSpPr>
          <p:cNvPr id="9" name="">
            <a:extLst xmlns:a="http://schemas.openxmlformats.org/drawingml/2006/main">
              <a:ext uri="{FF2B5EF4-FFF2-40B4-BE49-F238E27FC236}">
                <a16:creationId xmlns:a16="http://schemas.microsoft.com/office/drawing/2014/main" id="{33FBB86D-684A-45B8-96BE-DF831E18FE69}"/>
              </a:ext>
            </a:extLst>
          </p:cNvPr>
          <p:cNvSpPr>
            <a:spLocks xmlns:a="http://schemas.openxmlformats.org/drawingml/2006/main" noGrp="1"/>
          </p:cNvSpPr>
          <p:nvPr/>
        </p:nvSpPr>
        <p:spPr>
          <a:xfrm xmlns:a="http://schemas.openxmlformats.org/drawingml/2006/main">
            <a:off x="621792" y="3611880"/>
            <a:ext cx="10671048"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550" b="1" dirty="0">
                <a:solidFill>
                  <a:srgbClr val="18334B"/>
                </a:solidFill>
                <a:latin typeface="Nimbus Sans"/>
                <a:ea typeface="Nimbus Sans"/>
                <a:cs typeface="Nimbus Sans"/>
              </a:rPr>
              <a:t xml:space="preserve">Amazon Textract (OCR) + Amazon Comprehend Medical</a:t>
            </a:r>
            <a:r>
              <a:rPr lang="en-GB" sz="1550" b="0" dirty="0">
                <a:solidFill>
                  <a:srgbClr val="18334B"/>
                </a:solidFill>
                <a:latin typeface="Nimbus Sans"/>
                <a:ea typeface="Nimbus Sans"/>
                <a:cs typeface="Nimbus Sans"/>
              </a:rPr>
              <a:t xml:space="preserve"> – extracts medicines from text, but in two steps: OCR errors flow into extraction, and it is tuned to US drug names. Chosen: Nova for reading (R1); deterministic rules for the stock and safety check (R2).</a:t>
            </a:r>
          </a:p>
        </p:txBody>
      </p:sp>
      <p:sp>
        <p:nvSpPr>
          <p:cNvPr id="10" name="">
            <a:extLst xmlns:a="http://schemas.openxmlformats.org/drawingml/2006/main">
              <a:ext uri="{FF2B5EF4-FFF2-40B4-BE49-F238E27FC236}">
                <a16:creationId xmlns:a16="http://schemas.microsoft.com/office/drawing/2014/main" id="{B099071E-B347-45C2-BBA3-2DB6228E4772}"/>
              </a:ext>
            </a:extLst>
          </p:cNvPr>
          <p:cNvSpPr>
            <a:spLocks xmlns:a="http://schemas.openxmlformats.org/drawingml/2006/main" noGrp="1"/>
          </p:cNvSpPr>
          <p:nvPr/>
        </p:nvSpPr>
        <p:spPr>
          <a:xfrm xmlns:a="http://schemas.openxmlformats.org/drawingml/2006/main">
            <a:off x="621792" y="4526280"/>
            <a:ext cx="5239512"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CONNECTED FEATURES</a:t>
            </a:r>
          </a:p>
        </p:txBody>
      </p:sp>
      <p:sp>
        <p:nvSpPr>
          <p:cNvPr id="11" name="">
            <a:extLst xmlns:a="http://schemas.openxmlformats.org/drawingml/2006/main">
              <a:ext uri="{FF2B5EF4-FFF2-40B4-BE49-F238E27FC236}">
                <a16:creationId xmlns:a16="http://schemas.microsoft.com/office/drawing/2014/main" id="{6B303990-6D77-4863-880F-D5C6D33D1724}"/>
              </a:ext>
            </a:extLst>
          </p:cNvPr>
          <p:cNvSpPr>
            <a:spLocks xmlns:a="http://schemas.openxmlformats.org/drawingml/2006/main" noGrp="1"/>
          </p:cNvSpPr>
          <p:nvPr/>
        </p:nvSpPr>
        <p:spPr>
          <a:xfrm xmlns:a="http://schemas.openxmlformats.org/drawingml/2006/main">
            <a:off x="621792" y="4846320"/>
            <a:ext cx="512064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500" b="1" dirty="0">
                <a:solidFill>
                  <a:srgbClr val="18334B"/>
                </a:solidFill>
                <a:latin typeface="Nimbus Sans"/>
                <a:ea typeface="Nimbus Sans"/>
                <a:cs typeface="Nimbus Sans"/>
              </a:rPr>
              <a:t xml:space="preserve">01  Feature 1 – </a:t>
            </a:r>
            <a:r>
              <a:rPr lang="en-GB" sz="1500" b="0" dirty="0">
                <a:solidFill>
                  <a:srgbClr val="18334B"/>
                </a:solidFill>
                <a:latin typeface="Nimbus Sans"/>
                <a:ea typeface="Nimbus Sans"/>
                <a:cs typeface="Nimbus Sans"/>
              </a:rPr>
              <a:t xml:space="preserve">photo upload → AI extracts items; pharmacist confirms or edits</a:t>
            </a:r>
          </a:p>
        </p:txBody>
      </p:sp>
      <p:sp>
        <p:nvSpPr>
          <p:cNvPr id="12" name="">
            <a:extLst xmlns:a="http://schemas.openxmlformats.org/drawingml/2006/main">
              <a:ext uri="{FF2B5EF4-FFF2-40B4-BE49-F238E27FC236}">
                <a16:creationId xmlns:a16="http://schemas.microsoft.com/office/drawing/2014/main" id="{97199172-7AFD-485E-8E9B-BF2E275736A0}"/>
              </a:ext>
            </a:extLst>
          </p:cNvPr>
          <p:cNvSpPr>
            <a:spLocks xmlns:a="http://schemas.openxmlformats.org/drawingml/2006/main" noGrp="1"/>
          </p:cNvSpPr>
          <p:nvPr/>
        </p:nvSpPr>
        <p:spPr>
          <a:xfrm xmlns:a="http://schemas.openxmlformats.org/drawingml/2006/main">
            <a:off x="6190488" y="4846320"/>
            <a:ext cx="5138928"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500" b="1" dirty="0">
                <a:solidFill>
                  <a:srgbClr val="18334B"/>
                </a:solidFill>
                <a:latin typeface="Nimbus Sans"/>
                <a:ea typeface="Nimbus Sans"/>
                <a:cs typeface="Nimbus Sans"/>
              </a:rPr>
              <a:t xml:space="preserve">02  Feature 2 – </a:t>
            </a:r>
            <a:r>
              <a:rPr lang="en-GB" sz="1500" b="0" dirty="0">
                <a:solidFill>
                  <a:srgbClr val="18334B"/>
                </a:solidFill>
                <a:latin typeface="Nimbus Sans"/>
                <a:ea typeface="Nimbus Sans"/>
                <a:cs typeface="Nimbus Sans"/>
              </a:rPr>
              <a:t xml:space="preserve">confirmed list → stock, generic and interaction check → dispensing checklist</a:t>
            </a:r>
          </a:p>
        </p:txBody>
      </p:sp>
      <p:sp>
        <p:nvSpPr>
          <p:cNvPr id="13" name="">
            <a:extLst xmlns:a="http://schemas.openxmlformats.org/drawingml/2006/main">
              <a:ext uri="{FF2B5EF4-FFF2-40B4-BE49-F238E27FC236}">
                <a16:creationId xmlns:a16="http://schemas.microsoft.com/office/drawing/2014/main" id="{091ECEFE-141D-4C19-8917-5FB9C3A30BDF}"/>
              </a:ext>
            </a:extLst>
          </p:cNvPr>
          <p:cNvSpPr>
            <a:spLocks xmlns:a="http://schemas.openxmlformats.org/drawingml/2006/main" noGrp="1"/>
          </p:cNvSpPr>
          <p:nvPr/>
        </p:nvSpPr>
        <p:spPr>
          <a:xfrm xmlns:a="http://schemas.openxmlformats.org/drawingml/2006/main">
            <a:off x="621792" y="5669280"/>
            <a:ext cx="10671048"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400" b="1" dirty="0">
                <a:solidFill>
                  <a:srgbClr val="18334B"/>
                </a:solidFill>
                <a:latin typeface="Nimbus Sans"/>
                <a:ea typeface="Nimbus Sans"/>
                <a:cs typeface="Nimbus Sans"/>
              </a:rPr>
              <a:t xml:space="preserve">How they connect: </a:t>
            </a:r>
            <a:r>
              <a:rPr lang="en-GB" sz="1400" b="0" dirty="0">
                <a:solidFill>
                  <a:srgbClr val="18334B"/>
                </a:solidFill>
                <a:latin typeface="Nimbus Sans"/>
                <a:ea typeface="Nimbus Sans"/>
                <a:cs typeface="Nimbus Sans"/>
              </a:rPr>
              <a:t xml:space="preserve">Feature 1’s confirmed list is Feature 2’s input. If the AI fails or the photo is unreadable, a manual entry form feeds Feature 2 instead.</a:t>
            </a:r>
          </a:p>
        </p:txBody>
      </p:sp>
    </p:spTree>
    <p:extLst>
      <p:ext uri="{BB962C8B-B14F-4D97-AF65-F5344CB8AC3E}">
        <p14:creationId xmlns:p14="http://schemas.microsoft.com/office/powerpoint/2010/main" val="1640880018"/>
      </p:ext>
    </p:extLst>
  </p:cSld>
</p:sld>
</file>

<file path=ppt/slides/slide3.xml><?xml version="1.0" encoding="utf-8"?>
<p:sld xmlns:p="http://schemas.openxmlformats.org/presentationml/2006/main">
  <p:cSld>
    <p:bg>
      <p:bgPr>
        <a:solidFill xmlns:a="http://schemas.openxmlformats.org/drawingml/2006/main">
          <a:srgbClr val="FBFC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6DFF4D-9A0E-473C-A988-61A54C55E44D}"/>
              </a:ext>
            </a:extLst>
          </p:cNvPr>
          <p:cNvSpPr>
            <a:spLocks xmlns:a="http://schemas.openxmlformats.org/drawingml/2006/main" noGrp="1"/>
          </p:cNvSpPr>
          <p:nvPr/>
        </p:nvSpPr>
        <p:spPr>
          <a:xfrm xmlns:a="http://schemas.openxmlformats.org/drawingml/2006/main">
            <a:off x="609600" y="295275"/>
            <a:ext cx="981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ASSIGNMENT 02  /  PROGRESS PRESENTATION</a:t>
            </a:r>
          </a:p>
        </p:txBody>
      </p:sp>
      <p:sp>
        <p:nvSpPr>
          <p:cNvPr id="2" name="">
            <a:extLst xmlns:a="http://schemas.openxmlformats.org/drawingml/2006/main">
              <a:ext uri="{FF2B5EF4-FFF2-40B4-BE49-F238E27FC236}">
                <a16:creationId xmlns:a16="http://schemas.microsoft.com/office/drawing/2014/main" id="{8EC50A81-08BC-4A6F-BFCF-58767F0E7B58}"/>
              </a:ext>
            </a:extLst>
          </p:cNvPr>
          <p:cNvSpPr>
            <a:spLocks xmlns:a="http://schemas.openxmlformats.org/drawingml/2006/main" noGrp="1"/>
          </p:cNvSpPr>
          <p:nvPr/>
        </p:nvSpPr>
        <p:spPr>
          <a:xfrm xmlns:a="http://schemas.openxmlformats.org/drawingml/2006/main">
            <a:off x="609600" y="73342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34B"/>
                </a:solidFill>
                <a:latin typeface="Nimbus Sans"/>
                <a:ea typeface="Nimbus Sans"/>
                <a:cs typeface="Nimbus Sans"/>
              </a:defRPr>
            </a:pPr>
            <a:r>
              <a:rPr sz="3150" b="1">
                <a:solidFill>
                  <a:srgbClr val="18334B"/>
                </a:solidFill>
                <a:latin typeface="Nimbus Sans"/>
                <a:ea typeface="Nimbus Sans"/>
                <a:cs typeface="Nimbus Sans"/>
              </a:rPr>
              <a:t>Early proof and feasibility</a:t>
            </a:r>
          </a:p>
        </p:txBody>
      </p:sp>
      <p:sp>
        <p:nvSpPr>
          <p:cNvPr id="3" name="">
            <a:extLst xmlns:a="http://schemas.openxmlformats.org/drawingml/2006/main">
              <a:ext uri="{FF2B5EF4-FFF2-40B4-BE49-F238E27FC236}">
                <a16:creationId xmlns:a16="http://schemas.microsoft.com/office/drawing/2014/main" id="{A9BCC6BA-50C5-4CA9-9602-598ADC7893E5}"/>
              </a:ext>
            </a:extLst>
          </p:cNvPr>
          <p:cNvSpPr>
            <a:spLocks xmlns:a="http://schemas.openxmlformats.org/drawingml/2006/main" noGrp="1"/>
          </p:cNvSpPr>
          <p:nvPr/>
        </p:nvSpPr>
        <p:spPr>
          <a:xfrm xmlns:a="http://schemas.openxmlformats.org/drawingml/2006/main">
            <a:off x="609600" y="1428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B6B78"/>
                </a:solidFill>
                <a:latin typeface="Nimbus Sans"/>
                <a:ea typeface="Nimbus Sans"/>
                <a:cs typeface="Nimbus Sans"/>
              </a:defRPr>
            </a:pPr>
            <a:r>
              <a:rPr sz="1350" b="0">
                <a:solidFill>
                  <a:srgbClr val="5B6B78"/>
                </a:solidFill>
                <a:latin typeface="Nimbus Sans"/>
                <a:ea typeface="Nimbus Sans"/>
                <a:cs typeface="Nimbus Sans"/>
              </a:rPr>
              <a:t>55 seconds</a:t>
            </a:r>
          </a:p>
        </p:txBody>
      </p:sp>
      <p:sp>
        <p:nvSpPr>
          <p:cNvPr id="4" name="">
            <a:extLst xmlns:a="http://schemas.openxmlformats.org/drawingml/2006/main">
              <a:ext uri="{FF2B5EF4-FFF2-40B4-BE49-F238E27FC236}">
                <a16:creationId xmlns:a16="http://schemas.microsoft.com/office/drawing/2014/main" id="{F3E56B9E-F298-41D6-9F37-EC0804F2FEF8}"/>
              </a:ext>
            </a:extLst>
          </p:cNvPr>
          <p:cNvSpPr>
            <a:spLocks xmlns:a="http://schemas.openxmlformats.org/drawingml/2006/main" noGrp="1"/>
          </p:cNvSpPr>
          <p:nvPr/>
        </p:nvSpPr>
        <p:spPr>
          <a:xfrm xmlns:a="http://schemas.openxmlformats.org/drawingml/2006/main">
            <a:off x="609600" y="63817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200" b="0" dirty="0">
                <a:solidFill>
                  <a:srgbClr val="18334B"/>
                </a:solidFill>
                <a:latin typeface="Nimbus Sans"/>
                <a:ea typeface="Nimbus Sans"/>
                <a:cs typeface="Nimbus Sans"/>
              </a:rPr>
              <a:t xml:space="preserve">U.W.D.P. Amarasinghe   MS25903874</a:t>
            </a:r>
          </a:p>
        </p:txBody>
      </p:sp>
      <p:sp>
        <p:nvSpPr>
          <p:cNvPr id="5" name="">
            <a:extLst xmlns:a="http://schemas.openxmlformats.org/drawingml/2006/main">
              <a:ext uri="{FF2B5EF4-FFF2-40B4-BE49-F238E27FC236}">
                <a16:creationId xmlns:a16="http://schemas.microsoft.com/office/drawing/2014/main" id="{4565B51A-01E5-462A-8490-27198E21046B}"/>
              </a:ext>
            </a:extLst>
          </p:cNvPr>
          <p:cNvSpPr>
            <a:spLocks xmlns:a="http://schemas.openxmlformats.org/drawingml/2006/main" noGrp="1"/>
          </p:cNvSpPr>
          <p:nvPr/>
        </p:nvSpPr>
        <p:spPr>
          <a:xfrm xmlns:a="http://schemas.openxmlformats.org/drawingml/2006/main">
            <a:off x="10953750" y="6381750"/>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B6B78"/>
                </a:solidFill>
                <a:latin typeface="Nimbus Sans"/>
                <a:ea typeface="Nimbus Sans"/>
                <a:cs typeface="Nimbus Sans"/>
              </a:defRPr>
            </a:pPr>
            <a:r>
              <a:rPr sz="1200" b="0">
                <a:solidFill>
                  <a:srgbClr val="5B6B78"/>
                </a:solidFill>
                <a:latin typeface="Nimbus Sans"/>
                <a:ea typeface="Nimbus Sans"/>
                <a:cs typeface="Nimbus Sans"/>
              </a:rPr>
              <a:t>3 / 3</a:t>
            </a:r>
          </a:p>
        </p:txBody>
      </p:sp>
      <p:sp>
        <p:nvSpPr>
          <p:cNvPr id="6" name="">
            <a:extLst xmlns:a="http://schemas.openxmlformats.org/drawingml/2006/main">
              <a:ext uri="{FF2B5EF4-FFF2-40B4-BE49-F238E27FC236}">
                <a16:creationId xmlns:a16="http://schemas.microsoft.com/office/drawing/2014/main" id="{0E3A332F-D95A-4885-819C-9D6FF7F06DF7}"/>
              </a:ext>
            </a:extLst>
          </p:cNvPr>
          <p:cNvSpPr>
            <a:spLocks xmlns:a="http://schemas.openxmlformats.org/drawingml/2006/main" noGrp="1"/>
          </p:cNvSpPr>
          <p:nvPr/>
        </p:nvSpPr>
        <p:spPr>
          <a:xfrm xmlns:a="http://schemas.openxmlformats.org/drawingml/2006/main">
            <a:off x="619125" y="2028825"/>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EARLY WORKING EXAMPLE</a:t>
            </a:r>
          </a:p>
        </p:txBody>
      </p:sp>
      <p:sp>
        <p:nvSpPr>
          <p:cNvPr id="7" name="">
            <a:extLst xmlns:a="http://schemas.openxmlformats.org/drawingml/2006/main">
              <a:ext uri="{FF2B5EF4-FFF2-40B4-BE49-F238E27FC236}">
                <a16:creationId xmlns:a16="http://schemas.microsoft.com/office/drawing/2014/main" id="{1A20C09D-6B2A-41E1-B587-D243F9D1C391}"/>
              </a:ext>
            </a:extLst>
          </p:cNvPr>
          <p:cNvSpPr>
            <a:spLocks xmlns:a="http://schemas.openxmlformats.org/drawingml/2006/main" noGrp="1"/>
          </p:cNvSpPr>
          <p:nvPr/>
        </p:nvSpPr>
        <p:spPr>
          <a:xfrm xmlns:a="http://schemas.openxmlformats.org/drawingml/2006/main">
            <a:off x="621792" y="2350008"/>
            <a:ext cx="539496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Input  </a:t>
            </a:r>
            <a:r>
              <a:rPr lang="en-GB" sz="1350" b="0" dirty="0">
                <a:solidFill>
                  <a:srgbClr val="18334B"/>
                </a:solidFill>
                <a:latin typeface="Nimbus Sans"/>
                <a:ea typeface="Nimbus Sans"/>
                <a:cs typeface="Nimbus Sans"/>
              </a:rPr>
              <a:t xml:space="preserve">Synthetic photo: “Tab Lipitor 20mg nocte; Tab Klacid 500mg bd × 5/7”</a:t>
            </a:r>
          </a:p>
        </p:txBody>
      </p:sp>
      <p:sp>
        <p:nvSpPr>
          <p:cNvPr id="8" name="">
            <a:extLst xmlns:a="http://schemas.openxmlformats.org/drawingml/2006/main">
              <a:ext uri="{FF2B5EF4-FFF2-40B4-BE49-F238E27FC236}">
                <a16:creationId xmlns:a16="http://schemas.microsoft.com/office/drawing/2014/main" id="{5801F93D-F626-4ADD-ADFD-E929F17276CA}"/>
              </a:ext>
            </a:extLst>
          </p:cNvPr>
          <p:cNvSpPr>
            <a:spLocks xmlns:a="http://schemas.openxmlformats.org/drawingml/2006/main" noGrp="1"/>
          </p:cNvSpPr>
          <p:nvPr/>
        </p:nvSpPr>
        <p:spPr>
          <a:xfrm xmlns:a="http://schemas.openxmlformats.org/drawingml/2006/main">
            <a:off x="621792" y="2944368"/>
            <a:ext cx="53949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Processing  </a:t>
            </a:r>
            <a:r>
              <a:rPr lang="en-GB" sz="1350" b="0" dirty="0">
                <a:solidFill>
                  <a:srgbClr val="18334B"/>
                </a:solidFill>
                <a:latin typeface="Nimbus Sans"/>
                <a:ea typeface="Nimbus Sans"/>
                <a:cs typeface="Nimbus Sans"/>
              </a:rPr>
              <a:t xml:space="preserve">Amazon Nova (Bedrock) extracts drug, strength, dose and frequency as JSON with confidence; rules check stock and interactions</a:t>
            </a:r>
          </a:p>
        </p:txBody>
      </p:sp>
      <p:sp>
        <p:nvSpPr>
          <p:cNvPr id="9" name="">
            <a:extLst xmlns:a="http://schemas.openxmlformats.org/drawingml/2006/main">
              <a:ext uri="{FF2B5EF4-FFF2-40B4-BE49-F238E27FC236}">
                <a16:creationId xmlns:a16="http://schemas.microsoft.com/office/drawing/2014/main" id="{C5B4DB57-925B-488B-BE6E-F75CF2A8D7D4}"/>
              </a:ext>
            </a:extLst>
          </p:cNvPr>
          <p:cNvSpPr>
            <a:spLocks xmlns:a="http://schemas.openxmlformats.org/drawingml/2006/main" noGrp="1"/>
          </p:cNvSpPr>
          <p:nvPr/>
        </p:nvSpPr>
        <p:spPr>
          <a:xfrm xmlns:a="http://schemas.openxmlformats.org/drawingml/2006/main">
            <a:off x="621792" y="3767328"/>
            <a:ext cx="53949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Output  </a:t>
            </a:r>
            <a:r>
              <a:rPr lang="en-GB" sz="1350" b="0" dirty="0">
                <a:solidFill>
                  <a:srgbClr val="18334B"/>
                </a:solidFill>
                <a:latin typeface="Nimbus Sans"/>
                <a:ea typeface="Nimbus Sans"/>
                <a:cs typeface="Nimbus Sans"/>
              </a:rPr>
              <a:t xml:space="preserve">Editable list + warnings: Lipitor out of stock → generic atorvastatin; atorvastatin + clarithromycin interaction</a:t>
            </a:r>
          </a:p>
        </p:txBody>
      </p:sp>
      <p:sp>
        <p:nvSpPr>
          <p:cNvPr id="10" name="">
            <a:extLst xmlns:a="http://schemas.openxmlformats.org/drawingml/2006/main">
              <a:ext uri="{FF2B5EF4-FFF2-40B4-BE49-F238E27FC236}">
                <a16:creationId xmlns:a16="http://schemas.microsoft.com/office/drawing/2014/main" id="{AFC4C4CE-816B-4F5E-BD14-9C8B51ECC282}"/>
              </a:ext>
            </a:extLst>
          </p:cNvPr>
          <p:cNvSpPr>
            <a:spLocks xmlns:a="http://schemas.openxmlformats.org/drawingml/2006/main" noGrp="1"/>
          </p:cNvSpPr>
          <p:nvPr/>
        </p:nvSpPr>
        <p:spPr>
          <a:xfrm xmlns:a="http://schemas.openxmlformats.org/drawingml/2006/main">
            <a:off x="621792" y="4590288"/>
            <a:ext cx="539496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200" b="1" dirty="0">
                <a:solidFill>
                  <a:srgbClr val="18334B"/>
                </a:solidFill>
                <a:latin typeface="Nimbus Sans"/>
                <a:ea typeface="Nimbus Sans"/>
                <a:cs typeface="Nimbus Sans"/>
              </a:rPr>
              <a:t xml:space="preserve">Evidence: </a:t>
            </a:r>
            <a:r>
              <a:rPr lang="en-GB" sz="1200" b="0" dirty="0">
                <a:solidFill>
                  <a:srgbClr val="18334B"/>
                </a:solidFill>
                <a:latin typeface="Nimbus Sans"/>
                <a:ea typeface="Nimbus Sans"/>
                <a:cs typeface="Nimbus Sans"/>
              </a:rPr>
              <a:t xml:space="preserve">planned walkthrough with simulated stock/rule CSVs; Feature 1 prototype and GitHub repo due 14/10/2026 [add link]</a:t>
            </a:r>
          </a:p>
        </p:txBody>
      </p:sp>
      <p:sp>
        <p:nvSpPr>
          <p:cNvPr id="11" name="">
            <a:extLst xmlns:a="http://schemas.openxmlformats.org/drawingml/2006/main">
              <a:ext uri="{FF2B5EF4-FFF2-40B4-BE49-F238E27FC236}">
                <a16:creationId xmlns:a16="http://schemas.microsoft.com/office/drawing/2014/main" id="{ED72987B-26FE-46BD-84F7-1CDD0FCCED36}"/>
              </a:ext>
            </a:extLst>
          </p:cNvPr>
          <p:cNvSpPr>
            <a:spLocks xmlns:a="http://schemas.openxmlformats.org/drawingml/2006/main" noGrp="1"/>
          </p:cNvSpPr>
          <p:nvPr/>
        </p:nvSpPr>
        <p:spPr>
          <a:xfrm xmlns:a="http://schemas.openxmlformats.org/drawingml/2006/main">
            <a:off x="6381750" y="202882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COST AND ADOPTION</a:t>
            </a:r>
          </a:p>
        </p:txBody>
      </p:sp>
      <p:sp>
        <p:nvSpPr>
          <p:cNvPr id="12" name="">
            <a:extLst xmlns:a="http://schemas.openxmlformats.org/drawingml/2006/main">
              <a:ext uri="{FF2B5EF4-FFF2-40B4-BE49-F238E27FC236}">
                <a16:creationId xmlns:a16="http://schemas.microsoft.com/office/drawing/2014/main" id="{B0694E4E-13DE-49CF-9369-DD9268AE7BAE}"/>
              </a:ext>
            </a:extLst>
          </p:cNvPr>
          <p:cNvSpPr>
            <a:spLocks xmlns:a="http://schemas.openxmlformats.org/drawingml/2006/main" noGrp="1"/>
          </p:cNvSpPr>
          <p:nvPr/>
        </p:nvSpPr>
        <p:spPr>
          <a:xfrm xmlns:a="http://schemas.openxmlformats.org/drawingml/2006/main">
            <a:off x="6382512" y="2350008"/>
            <a:ext cx="512064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Setup  </a:t>
            </a:r>
            <a:r>
              <a:rPr lang="en-GB" sz="1350" b="0" dirty="0">
                <a:solidFill>
                  <a:srgbClr val="18334B"/>
                </a:solidFill>
                <a:latin typeface="Nimbus Sans"/>
                <a:ea typeface="Nimbus Sans"/>
                <a:cs typeface="Nimbus Sans"/>
              </a:rPr>
              <a:t xml:space="preserve">≈ LKR 25,000 one-off – AWS configuration and 2 h staff training; uses the existing counter PC and a phone</a:t>
            </a:r>
          </a:p>
        </p:txBody>
      </p:sp>
      <p:sp>
        <p:nvSpPr>
          <p:cNvPr id="13" name="">
            <a:extLst xmlns:a="http://schemas.openxmlformats.org/drawingml/2006/main">
              <a:ext uri="{FF2B5EF4-FFF2-40B4-BE49-F238E27FC236}">
                <a16:creationId xmlns:a16="http://schemas.microsoft.com/office/drawing/2014/main" id="{7D2E8C0A-DDD2-4790-AF97-2D693CAFF799}"/>
              </a:ext>
            </a:extLst>
          </p:cNvPr>
          <p:cNvSpPr>
            <a:spLocks xmlns:a="http://schemas.openxmlformats.org/drawingml/2006/main" noGrp="1"/>
          </p:cNvSpPr>
          <p:nvPr/>
        </p:nvSpPr>
        <p:spPr>
          <a:xfrm xmlns:a="http://schemas.openxmlformats.org/drawingml/2006/main">
            <a:off x="6382512" y="3172968"/>
            <a:ext cx="512064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Recurring  </a:t>
            </a:r>
            <a:r>
              <a:rPr lang="en-GB" sz="1350" b="0" dirty="0">
                <a:solidFill>
                  <a:srgbClr val="18334B"/>
                </a:solidFill>
                <a:latin typeface="Nimbus Sans"/>
                <a:ea typeface="Nimbus Sans"/>
                <a:cs typeface="Nimbus Sans"/>
              </a:rPr>
              <a:t xml:space="preserve">≈ LKR 4,500–7,000/month – Amazon Nova for ~4,800 scans (~USD 8–15) + small AWS Lightsail host (~USD 7); USD 1 ≈ LKR 300. PoC testing &lt; USD 1</a:t>
            </a:r>
          </a:p>
        </p:txBody>
      </p:sp>
      <p:sp>
        <p:nvSpPr>
          <p:cNvPr id="14" name="">
            <a:extLst xmlns:a="http://schemas.openxmlformats.org/drawingml/2006/main">
              <a:ext uri="{FF2B5EF4-FFF2-40B4-BE49-F238E27FC236}">
                <a16:creationId xmlns:a16="http://schemas.microsoft.com/office/drawing/2014/main" id="{ECCBF9B3-A8D4-4085-9116-07B92EE00561}"/>
              </a:ext>
            </a:extLst>
          </p:cNvPr>
          <p:cNvSpPr>
            <a:spLocks xmlns:a="http://schemas.openxmlformats.org/drawingml/2006/main" noGrp="1"/>
          </p:cNvSpPr>
          <p:nvPr/>
        </p:nvSpPr>
        <p:spPr>
          <a:xfrm xmlns:a="http://schemas.openxmlformats.org/drawingml/2006/main">
            <a:off x="6382512" y="4178808"/>
            <a:ext cx="512064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350" b="1" dirty="0">
                <a:solidFill>
                  <a:srgbClr val="18334B"/>
                </a:solidFill>
                <a:latin typeface="Nimbus Sans"/>
                <a:ea typeface="Nimbus Sans"/>
                <a:cs typeface="Nimbus Sans"/>
              </a:rPr>
              <a:t xml:space="preserve">Main constraint  </a:t>
            </a:r>
            <a:r>
              <a:rPr lang="en-GB" sz="1350" b="0" dirty="0">
                <a:solidFill>
                  <a:srgbClr val="18334B"/>
                </a:solidFill>
                <a:latin typeface="Nimbus Sans"/>
                <a:ea typeface="Nimbus Sans"/>
                <a:cs typeface="Nimbus Sans"/>
              </a:rPr>
              <a:t xml:space="preserve">Privacy – images are processed in an AWS overseas region, so patient names are redacted before upload and Sri Lanka’s PDPA must be checked; also needs reliable internet</a:t>
            </a:r>
          </a:p>
        </p:txBody>
      </p:sp>
      <p:sp>
        <p:nvSpPr>
          <p:cNvPr id="15" name="">
            <a:extLst xmlns:a="http://schemas.openxmlformats.org/drawingml/2006/main">
              <a:ext uri="{FF2B5EF4-FFF2-40B4-BE49-F238E27FC236}">
                <a16:creationId xmlns:a16="http://schemas.microsoft.com/office/drawing/2014/main" id="{DD835A04-FF51-4F82-B727-B832E87CE31F}"/>
              </a:ext>
            </a:extLst>
          </p:cNvPr>
          <p:cNvSpPr>
            <a:spLocks xmlns:a="http://schemas.openxmlformats.org/drawingml/2006/main" noGrp="1"/>
          </p:cNvSpPr>
          <p:nvPr/>
        </p:nvSpPr>
        <p:spPr>
          <a:xfrm xmlns:a="http://schemas.openxmlformats.org/drawingml/2006/main">
            <a:off x="621792" y="5285232"/>
            <a:ext cx="4764024" cy="3017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77"/>
                </a:solidFill>
                <a:latin typeface="Nimbus Sans"/>
                <a:ea typeface="Nimbus Sans"/>
                <a:cs typeface="Nimbus Sans"/>
              </a:defRPr>
            </a:pPr>
            <a:r>
              <a:rPr sz="1275" b="1">
                <a:solidFill>
                  <a:srgbClr val="087F77"/>
                </a:solidFill>
                <a:latin typeface="Nimbus Sans"/>
                <a:ea typeface="Nimbus Sans"/>
                <a:cs typeface="Nimbus Sans"/>
              </a:rPr>
              <a:t>NEXT ACTION</a:t>
            </a:r>
          </a:p>
        </p:txBody>
      </p:sp>
      <p:sp>
        <p:nvSpPr>
          <p:cNvPr id="16" name="">
            <a:extLst xmlns:a="http://schemas.openxmlformats.org/drawingml/2006/main">
              <a:ext uri="{FF2B5EF4-FFF2-40B4-BE49-F238E27FC236}">
                <a16:creationId xmlns:a16="http://schemas.microsoft.com/office/drawing/2014/main" id="{2C4F86E1-90B1-4870-B9D1-FD3DFB273EE7}"/>
              </a:ext>
            </a:extLst>
          </p:cNvPr>
          <p:cNvSpPr>
            <a:spLocks xmlns:a="http://schemas.openxmlformats.org/drawingml/2006/main" noGrp="1"/>
          </p:cNvSpPr>
          <p:nvPr/>
        </p:nvSpPr>
        <p:spPr>
          <a:xfrm xmlns:a="http://schemas.openxmlformats.org/drawingml/2006/main">
            <a:off x="621792" y="5596128"/>
            <a:ext cx="10671048"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spcAft>
                <a:spcPts val="300"/>
              </a:spcAft>
            </a:pPr>
            <a:r>
              <a:rPr lang="en-GB" sz="1450" b="0" dirty="0">
                <a:solidFill>
                  <a:srgbClr val="18334B"/>
                </a:solidFill>
                <a:latin typeface="Nimbus Sans"/>
                <a:ea typeface="Nimbus Sans"/>
                <a:cs typeface="Nimbus Sans"/>
              </a:rPr>
              <a:t xml:space="preserve">Collect 10–15 redacted/synthetic samples and pharmacist review of stock &amp; rule lists by 07/10/2026; Feature 1 prototype (photo → AI → editable list) by 14/10/2026</a:t>
            </a:r>
          </a:p>
        </p:txBody>
      </p:sp>
    </p:spTree>
    <p:extLst>
      <p:ext uri="{BB962C8B-B14F-4D97-AF65-F5344CB8AC3E}">
        <p14:creationId xmlns:p14="http://schemas.microsoft.com/office/powerpoint/2010/main" val="558552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2026-10-02T10:28:49.2630000Z</dcterms:created>
  <dcterms:modified xsi:type="dcterms:W3CDTF">2026-10-02T10:28:49.2630000Z</dcterms:modified>
</coreProperties>
</file>